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76" r:id="rId8"/>
    <p:sldId id="261" r:id="rId9"/>
    <p:sldId id="262" r:id="rId10"/>
    <p:sldId id="273" r:id="rId11"/>
    <p:sldId id="263" r:id="rId12"/>
    <p:sldId id="264" r:id="rId13"/>
    <p:sldId id="272" r:id="rId14"/>
    <p:sldId id="275" r:id="rId15"/>
    <p:sldId id="265" r:id="rId16"/>
    <p:sldId id="266" r:id="rId17"/>
    <p:sldId id="267" r:id="rId18"/>
    <p:sldId id="268" r:id="rId19"/>
    <p:sldId id="269" r:id="rId20"/>
    <p:sldId id="271" r:id="rId21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2.png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0" Type="http://schemas.openxmlformats.org/officeDocument/2006/relationships/slideLayout" Target="../slideLayouts/slideLayout7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058400" y="502920"/>
            <a:ext cx="1783080" cy="384048"/>
          </a:xfrm>
          <a:prstGeom prst="roundRect">
            <a:avLst>
              <a:gd name="adj" fmla="val 50000"/>
            </a:avLst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协作记忆点</a:t>
            </a:r>
            <a:endParaRPr sz="12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9" name="Picture 8" descr="开头与Claude code的互动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5545" y="312420"/>
            <a:ext cx="8573135" cy="621982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50545" y="413258"/>
            <a:ext cx="1097280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</a:pPr>
            <a:r>
              <a:rPr sz="2200" b="1" i="0">
                <a:solidFill>
                  <a:srgbClr val="1E276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Reopening Openness to Experience:</a:t>
            </a:r>
            <a:endParaRPr sz="2200" b="1" i="0">
              <a:solidFill>
                <a:srgbClr val="1E276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200"/>
              </a:spcBef>
              <a:spcAft>
                <a:spcPts val="0"/>
              </a:spcAft>
            </a:pPr>
            <a:r>
              <a:rPr sz="2200" b="1" i="0">
                <a:solidFill>
                  <a:srgbClr val="1E276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 Network Analysis of Four Openness to Experience Inventories</a:t>
            </a:r>
            <a:endParaRPr sz="2200" b="1" i="0">
              <a:solidFill>
                <a:srgbClr val="1E276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50545" y="1396873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sz="1600" b="1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Christensen, A. P., Cotter, K. N., &amp; Silvia, P. J. </a:t>
            </a:r>
            <a:r>
              <a:rPr sz="1600" b="0" i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(2019)</a:t>
            </a:r>
            <a:endParaRPr sz="1600" b="0" i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Rounded Rectangle 6"/>
          <p:cNvSpPr/>
          <p:nvPr>
            <p:custDataLst>
              <p:tags r:id="rId1"/>
            </p:custDataLst>
          </p:nvPr>
        </p:nvSpPr>
        <p:spPr>
          <a:xfrm>
            <a:off x="524510" y="1984375"/>
            <a:ext cx="3491718" cy="1793045"/>
          </a:xfrm>
          <a:prstGeom prst="roundRect">
            <a:avLst>
              <a:gd name="adj" fmla="val 6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>
            <p:custDataLst>
              <p:tags r:id="rId2"/>
            </p:custDataLst>
          </p:nvPr>
        </p:nvSpPr>
        <p:spPr>
          <a:xfrm>
            <a:off x="807622" y="2220302"/>
            <a:ext cx="2925494" cy="184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sz="1200" b="1" i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期刊 JOURNAL</a:t>
            </a:r>
            <a:endParaRPr sz="1200" b="1" i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>
            <p:custDataLst>
              <p:tags r:id="rId3"/>
            </p:custDataLst>
          </p:nvPr>
        </p:nvSpPr>
        <p:spPr>
          <a:xfrm>
            <a:off x="807622" y="2569474"/>
            <a:ext cx="2925494" cy="563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600"/>
              </a:spcBef>
              <a:spcAft>
                <a:spcPts val="0"/>
              </a:spcAft>
            </a:pPr>
            <a:r>
              <a:rPr sz="1700" b="1" i="0">
                <a:solidFill>
                  <a:srgbClr val="1E276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Journal of Personality Assessment</a:t>
            </a:r>
            <a:endParaRPr sz="1700" b="1" i="0">
              <a:solidFill>
                <a:srgbClr val="1E276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>
            <p:custDataLst>
              <p:tags r:id="rId4"/>
            </p:custDataLst>
          </p:nvPr>
        </p:nvSpPr>
        <p:spPr>
          <a:xfrm>
            <a:off x="807622" y="3362188"/>
            <a:ext cx="2925494" cy="184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sz="1200" b="0" i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SSCI</a:t>
            </a:r>
            <a:endParaRPr sz="1200" b="0" i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>
            <p:custDataLst>
              <p:tags r:id="rId5"/>
            </p:custDataLst>
          </p:nvPr>
        </p:nvSpPr>
        <p:spPr>
          <a:xfrm>
            <a:off x="524657" y="3977005"/>
            <a:ext cx="3491718" cy="1793045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>
            <p:custDataLst>
              <p:tags r:id="rId6"/>
            </p:custDataLst>
          </p:nvPr>
        </p:nvSpPr>
        <p:spPr>
          <a:xfrm>
            <a:off x="619809" y="4129747"/>
            <a:ext cx="2925494" cy="184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sz="1200" b="1" i="0">
                <a:solidFill>
                  <a:srgbClr val="CADC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影响因子 JIF · JCR 2024</a:t>
            </a:r>
            <a:endParaRPr sz="1200" b="1" i="0">
              <a:solidFill>
                <a:srgbClr val="CADC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>
            <p:custDataLst>
              <p:tags r:id="rId7"/>
            </p:custDataLst>
          </p:nvPr>
        </p:nvSpPr>
        <p:spPr>
          <a:xfrm>
            <a:off x="696644" y="4357614"/>
            <a:ext cx="2925494" cy="7073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sz="46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3.16</a:t>
            </a:r>
            <a:endParaRPr sz="46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>
            <p:custDataLst>
              <p:tags r:id="rId8"/>
            </p:custDataLst>
          </p:nvPr>
        </p:nvSpPr>
        <p:spPr>
          <a:xfrm>
            <a:off x="696644" y="5266553"/>
            <a:ext cx="2925494" cy="184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sz="1200" b="0" i="0">
                <a:solidFill>
                  <a:srgbClr val="CADC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SSCI · Q2 · 5 年 IF 3.2</a:t>
            </a:r>
            <a:endParaRPr sz="1200" b="0" i="0">
              <a:solidFill>
                <a:srgbClr val="CADC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18380" y="1854200"/>
            <a:ext cx="7224395" cy="482473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4652645" cy="73787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sz="3000" b="1" i="0">
                <a:solidFill>
                  <a:srgbClr val="1E276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开放性</a:t>
            </a:r>
            <a:r>
              <a:rPr lang="zh-CN" sz="3000" b="1" i="0">
                <a:solidFill>
                  <a:srgbClr val="1E276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以及</a:t>
            </a:r>
            <a:r>
              <a:rPr sz="3000" b="1" i="0">
                <a:solidFill>
                  <a:srgbClr val="1E276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四套量表</a:t>
            </a:r>
            <a:endParaRPr sz="3000" b="1" i="0">
              <a:solidFill>
                <a:srgbClr val="1E276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5943600" cy="307530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02A8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▸ </a:t>
            </a:r>
            <a:r>
              <a:rPr sz="1700" b="1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开放性（Openness to Experience）= 大五人格之一 </a:t>
            </a:r>
            <a:endParaRPr sz="1700" b="1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1200"/>
              </a:spcBef>
              <a:spcAft>
                <a:spcPts val="0"/>
              </a:spcAft>
            </a:pPr>
            <a:r>
              <a:rPr sz="1700" b="0" i="0">
                <a:solidFill>
                  <a:srgbClr val="1E276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▸ </a:t>
            </a:r>
            <a:r>
              <a:rPr sz="170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传统认为含 2 个高阶方面：体验（Experiencing）+ 智力（Intellect）</a:t>
            </a:r>
            <a:endParaRPr sz="170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1200"/>
              </a:spcBef>
              <a:spcAft>
                <a:spcPts val="0"/>
              </a:spcAft>
            </a:pPr>
            <a:r>
              <a:rPr sz="1700" b="0" i="0">
                <a:solidFill>
                  <a:srgbClr val="1E276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▸ </a:t>
            </a:r>
            <a:r>
              <a:rPr sz="170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争议在低阶分面（facet）层：到底由哪些成分组成、</a:t>
            </a:r>
            <a:endParaRPr sz="170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1" algn="l">
              <a:lnSpc>
                <a:spcPct val="112000"/>
              </a:lnSpc>
              <a:spcBef>
                <a:spcPts val="1200"/>
              </a:spcBef>
              <a:spcAft>
                <a:spcPts val="0"/>
              </a:spcAft>
            </a:pPr>
            <a:r>
              <a:rPr sz="1700" b="0" i="0">
                <a:solidFill>
                  <a:srgbClr val="1E276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</a:t>
            </a:r>
            <a:r>
              <a:rPr sz="1700" b="0" i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各问卷说法不一 —— 结构本身就有争议</a:t>
            </a:r>
            <a:endParaRPr sz="1700" b="0" i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1200"/>
              </a:spcBef>
              <a:spcAft>
                <a:spcPts val="0"/>
              </a:spcAft>
            </a:pPr>
            <a:r>
              <a:rPr sz="1700" b="0" i="0">
                <a:solidFill>
                  <a:srgbClr val="1E276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▸ </a:t>
            </a:r>
            <a:r>
              <a:rPr sz="170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四套量表都测开放性，但各自侧重不同</a:t>
            </a:r>
            <a:endParaRPr sz="170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040880" y="1645920"/>
          <a:ext cx="4572000" cy="3950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371600"/>
              </a:tblGrid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500" b="1" i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量表</a:t>
                      </a:r>
                      <a:endParaRPr sz="1500" b="1" i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27000" marR="76200" marT="38100" marB="38100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题数</a:t>
                      </a:r>
                      <a:endParaRPr sz="1500" b="1" i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27000" marR="76200" marT="38100" marB="38100" anchor="ctr">
                    <a:solidFill>
                      <a:srgbClr val="1E276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NEO-PI-3</a:t>
                      </a:r>
                      <a:endParaRPr sz="150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270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48</a:t>
                      </a:r>
                      <a:endParaRPr sz="150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27000" marR="76200" marT="38100" marB="38100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BFAS</a:t>
                      </a:r>
                      <a:endParaRPr sz="150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270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20</a:t>
                      </a:r>
                      <a:endParaRPr sz="150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27000" marR="76200" marT="38100" marB="38100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HEXACO-100</a:t>
                      </a:r>
                      <a:endParaRPr sz="150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270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16</a:t>
                      </a:r>
                      <a:endParaRPr sz="150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27000" marR="76200" marT="38100" marB="38100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Woo et al. (2014)</a:t>
                      </a:r>
                      <a:endParaRPr sz="150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270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54</a:t>
                      </a:r>
                      <a:endParaRPr sz="150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27000" marR="76200" marT="38100" marB="38100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500" b="1" i="0">
                          <a:solidFill>
                            <a:srgbClr val="1E276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合计</a:t>
                      </a:r>
                      <a:endParaRPr sz="1500" b="1" i="0">
                        <a:solidFill>
                          <a:srgbClr val="1E276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27000" marR="76200" marT="38100" marB="38100" anchor="ctr"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1E276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138</a:t>
                      </a:r>
                      <a:endParaRPr sz="1500" b="1" i="0">
                        <a:solidFill>
                          <a:srgbClr val="1E276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27000" marR="76200" marT="38100" marB="38100" anchor="ctr">
                    <a:solidFill>
                      <a:srgbClr val="CADC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sz="3000" b="1" i="0">
                <a:solidFill>
                  <a:srgbClr val="1E276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研究目的与原文结论</a:t>
            </a:r>
            <a:endParaRPr sz="3000" b="1" i="0">
              <a:solidFill>
                <a:srgbClr val="1E276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40080" y="1554480"/>
            <a:ext cx="10881360" cy="141732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10332720" cy="1417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sz="1400" b="1" i="0">
                <a:solidFill>
                  <a:srgbClr val="F961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核心问题</a:t>
            </a:r>
            <a:endParaRPr sz="1400" b="1" i="0">
              <a:solidFill>
                <a:srgbClr val="F9616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四套主流开放性问卷，测的是同一个东西吗？开放性到底由哪些成分组成？</a:t>
            </a:r>
            <a:endParaRPr sz="20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3246120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sz="1600" b="1" i="0">
                <a:solidFill>
                  <a:srgbClr val="1E276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原文结论</a:t>
            </a:r>
            <a:endParaRPr sz="1600" b="1" i="0">
              <a:solidFill>
                <a:srgbClr val="1E276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77240" y="3749039"/>
            <a:ext cx="10607040" cy="1769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E276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▸ </a:t>
            </a:r>
            <a:r>
              <a:rPr sz="170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138 题聚成 10 个分面（facet），归入 3 个高阶方面：体验 · 智力 · 思想开放（Open-Mindedness）</a:t>
            </a:r>
            <a:endParaRPr sz="170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1200"/>
              </a:spcBef>
              <a:spcAft>
                <a:spcPts val="0"/>
              </a:spcAft>
            </a:pPr>
            <a:r>
              <a:rPr sz="1700" b="1" i="0">
                <a:solidFill>
                  <a:srgbClr val="F961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▸ </a:t>
            </a:r>
            <a:r>
              <a:rPr sz="1700" b="1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四套量表测同一大构念，但覆盖极不均衡</a:t>
            </a:r>
            <a:endParaRPr sz="1700" b="1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1200"/>
              </a:spcBef>
              <a:spcAft>
                <a:spcPts val="0"/>
              </a:spcAft>
            </a:pPr>
            <a:endParaRPr sz="1700" b="1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sz="1700" b="0" i="0">
                <a:solidFill>
                  <a:srgbClr val="1E276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▸ 在网络识别出的 10 个分面中：Woo 与 NEO 各覆盖 9 个（最广）、BFAS 7 个、HEXACO 仅 4 个（最窄）</a:t>
            </a:r>
            <a:endParaRPr sz="1700" b="0" i="0">
              <a:solidFill>
                <a:srgbClr val="1E276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sz="1700" b="0" i="0">
                <a:solidFill>
                  <a:srgbClr val="1E276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</a:t>
            </a:r>
            <a:r>
              <a:rPr sz="1700" b="0" i="0">
                <a:solidFill>
                  <a:srgbClr val="1E276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Woo 题量最大（54 题）、三个高阶方面最均衡，综合覆盖最全面</a:t>
            </a:r>
            <a:endParaRPr sz="1700" b="0" i="0">
              <a:solidFill>
                <a:srgbClr val="1E276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4616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sz="3000" b="1" i="0">
                <a:solidFill>
                  <a:srgbClr val="1E276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方法：TMFG </a:t>
            </a:r>
            <a:r>
              <a:rPr lang="zh-CN" sz="3000" b="1" i="0">
                <a:solidFill>
                  <a:srgbClr val="1E276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网络过滤</a:t>
            </a:r>
            <a:r>
              <a:rPr sz="3000" b="1" i="0">
                <a:solidFill>
                  <a:srgbClr val="1E276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+ walktrap </a:t>
            </a:r>
            <a:r>
              <a:rPr lang="zh-CN" sz="3000" b="1" i="0">
                <a:solidFill>
                  <a:srgbClr val="1E276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算法</a:t>
            </a:r>
            <a:endParaRPr lang="zh-CN" sz="3000" b="1" i="0">
              <a:solidFill>
                <a:srgbClr val="1E276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5210810" cy="264223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02A8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▸ </a:t>
            </a:r>
            <a:r>
              <a:rPr sz="1700" b="1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TMFG</a:t>
            </a:r>
            <a:endParaRPr sz="1700" b="1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1" algn="l">
              <a:lnSpc>
                <a:spcPct val="112000"/>
              </a:lnSpc>
              <a:spcBef>
                <a:spcPts val="1000"/>
              </a:spcBef>
              <a:spcAft>
                <a:spcPts val="0"/>
              </a:spcAft>
            </a:pPr>
            <a:r>
              <a:rPr sz="1700" b="0" i="0">
                <a:solidFill>
                  <a:srgbClr val="1E276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</a:t>
            </a:r>
            <a:r>
              <a:rPr sz="170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 138×138 相关矩阵“瘦身”成只留最</a:t>
            </a:r>
            <a:r>
              <a:rPr lang="zh-CN" sz="170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显著</a:t>
            </a:r>
            <a:r>
              <a:rPr sz="170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</a:t>
            </a:r>
            <a:endParaRPr sz="170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1" algn="l">
              <a:lnSpc>
                <a:spcPct val="112000"/>
              </a:lnSpc>
              <a:spcBef>
                <a:spcPts val="1000"/>
              </a:spcBef>
              <a:spcAft>
                <a:spcPts val="0"/>
              </a:spcAft>
            </a:pPr>
            <a:r>
              <a:rPr sz="1700" b="0" i="0">
                <a:solidFill>
                  <a:srgbClr val="1E276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</a:t>
            </a:r>
            <a:r>
              <a:rPr sz="1700" b="0" i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3n − 6 = 408 条边的平面三角网络</a:t>
            </a:r>
            <a:endParaRPr sz="1700" b="0" i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1000"/>
              </a:spcBef>
              <a:spcAft>
                <a:spcPts val="0"/>
              </a:spcAft>
            </a:pPr>
            <a:r>
              <a:rPr sz="1700" b="1" i="0">
                <a:solidFill>
                  <a:srgbClr val="02A8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▸ </a:t>
            </a:r>
            <a:r>
              <a:rPr sz="1700" b="1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walktrap</a:t>
            </a:r>
            <a:endParaRPr sz="1700" b="1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1" algn="l">
              <a:lnSpc>
                <a:spcPct val="112000"/>
              </a:lnSpc>
              <a:spcBef>
                <a:spcPts val="1000"/>
              </a:spcBef>
              <a:spcAft>
                <a:spcPts val="0"/>
              </a:spcAft>
            </a:pPr>
            <a:r>
              <a:rPr sz="1700" b="0" i="0">
                <a:solidFill>
                  <a:srgbClr val="1E276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</a:t>
            </a:r>
            <a:r>
              <a:rPr sz="170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用随机游走找社区 —— 题目自动聚成分面</a:t>
            </a:r>
            <a:endParaRPr sz="170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1" algn="l">
              <a:lnSpc>
                <a:spcPct val="112000"/>
              </a:lnSpc>
              <a:spcBef>
                <a:spcPts val="1000"/>
              </a:spcBef>
              <a:spcAft>
                <a:spcPts val="0"/>
              </a:spcAft>
            </a:pPr>
            <a:r>
              <a:rPr sz="1700" b="0" i="0">
                <a:solidFill>
                  <a:srgbClr val="1E276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</a:t>
            </a:r>
            <a:r>
              <a:rPr sz="1700" b="0" i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确定性算法：换种子结果不变</a:t>
            </a:r>
            <a:endParaRPr sz="1700" b="0" i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1004570" y="4160520"/>
            <a:ext cx="4846320" cy="2468880"/>
          </a:xfrm>
          <a:prstGeom prst="roundRect">
            <a:avLst>
              <a:gd name="adj" fmla="val 4000"/>
            </a:avLst>
          </a:prstGeom>
          <a:solidFill>
            <a:srgbClr val="222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5728" y="4307459"/>
            <a:ext cx="4443984" cy="21762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F9616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# 构网 -&gt; 转 igraph -&gt; 社区检测</a:t>
            </a:r>
            <a:endParaRPr sz="1500" b="0" i="0">
              <a:solidFill>
                <a:srgbClr val="F9616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E6E6F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tmfg &lt;- TMFG(data)$A</a:t>
            </a:r>
            <a:endParaRPr sz="1500" b="0" i="0">
              <a:solidFill>
                <a:srgbClr val="E6E6F0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E6E6F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g    &lt;- convert2igraph(tmfg)</a:t>
            </a:r>
            <a:endParaRPr sz="1500" b="0" i="0">
              <a:solidFill>
                <a:srgbClr val="E6E6F0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E6E6F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wc   &lt;- walktrap.community(g)</a:t>
            </a:r>
            <a:endParaRPr sz="1500" b="0" i="0">
              <a:solidFill>
                <a:srgbClr val="E6E6F0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9AA0B5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max(wc$membership)   # 社区数</a:t>
            </a:r>
            <a:endParaRPr sz="1500" b="0" i="0">
              <a:solidFill>
                <a:srgbClr val="9AA0B5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20460" y="1116965"/>
            <a:ext cx="5835650" cy="538353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842625" cy="59283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4616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sz="3000" b="1" i="0">
                <a:solidFill>
                  <a:srgbClr val="1E276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整体网络图（Figure 1）</a:t>
            </a:r>
            <a:endParaRPr sz="3000" b="1" i="0">
              <a:solidFill>
                <a:srgbClr val="1E276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20915" y="238760"/>
            <a:ext cx="3931920" cy="232219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E276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▸ </a:t>
            </a:r>
            <a:r>
              <a:rPr sz="160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138 节点 · 4 种形状区分 4 套问卷 · 10 社区配色</a:t>
            </a:r>
            <a:endParaRPr sz="160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1" algn="l">
              <a:lnSpc>
                <a:spcPct val="112000"/>
              </a:lnSpc>
              <a:spcBef>
                <a:spcPts val="1000"/>
              </a:spcBef>
              <a:spcAft>
                <a:spcPts val="0"/>
              </a:spcAft>
            </a:pPr>
            <a:r>
              <a:rPr sz="1600" b="0" i="0">
                <a:solidFill>
                  <a:srgbClr val="1E276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</a:t>
            </a:r>
            <a:r>
              <a:rPr sz="160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圆 = NEO   方 = BFAS</a:t>
            </a:r>
            <a:endParaRPr sz="160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1" algn="l">
              <a:lnSpc>
                <a:spcPct val="112000"/>
              </a:lnSpc>
              <a:spcBef>
                <a:spcPts val="1000"/>
              </a:spcBef>
              <a:spcAft>
                <a:spcPts val="0"/>
              </a:spcAft>
            </a:pPr>
            <a:r>
              <a:rPr sz="1600" b="0" i="0">
                <a:solidFill>
                  <a:srgbClr val="1E276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</a:t>
            </a:r>
            <a:r>
              <a:rPr sz="160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菱 = HEXACO   三角 = Woo</a:t>
            </a:r>
            <a:endParaRPr sz="160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1000"/>
              </a:spcBef>
              <a:spcAft>
                <a:spcPts val="0"/>
              </a:spcAft>
            </a:pPr>
            <a:r>
              <a:rPr sz="1600" b="0" i="0">
                <a:solidFill>
                  <a:srgbClr val="1E276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▸ </a:t>
            </a:r>
            <a:r>
              <a:rPr sz="160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三角（Woo）几乎进入每个颜色块</a:t>
            </a:r>
            <a:endParaRPr sz="160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1" algn="l">
              <a:lnSpc>
                <a:spcPct val="112000"/>
              </a:lnSpc>
              <a:spcBef>
                <a:spcPts val="1000"/>
              </a:spcBef>
              <a:spcAft>
                <a:spcPts val="0"/>
              </a:spcAft>
            </a:pPr>
            <a:r>
              <a:rPr sz="1600" b="0" i="0">
                <a:solidFill>
                  <a:srgbClr val="1E276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</a:t>
            </a:r>
            <a:r>
              <a:rPr sz="1600" b="0" i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 直观体现 Woo 覆盖面最广</a:t>
            </a:r>
            <a:endParaRPr sz="1600" b="0" i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7" name="Picture 6" descr="整体网络图-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99505" y="2560955"/>
            <a:ext cx="5792470" cy="395478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005" y="2306320"/>
            <a:ext cx="5548630" cy="434213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590550" y="1083945"/>
            <a:ext cx="55060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左图：原文章</a:t>
            </a:r>
            <a:r>
              <a:rPr lang="en-US" altLang="zh-CN"/>
              <a:t> </a:t>
            </a:r>
            <a:r>
              <a:rPr lang="zh-CN" altLang="en-US"/>
              <a:t>右图：我</a:t>
            </a:r>
            <a:r>
              <a:rPr lang="zh-CN" altLang="en-US"/>
              <a:t>复现的</a:t>
            </a:r>
            <a:endParaRPr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4616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sz="3000" b="1" i="0">
                <a:solidFill>
                  <a:srgbClr val="1E276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四套分图与覆盖结论（Figure 2）</a:t>
            </a:r>
            <a:endParaRPr sz="3000" b="1" i="0">
              <a:solidFill>
                <a:srgbClr val="1E276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68680" y="3474720"/>
            <a:ext cx="4572000" cy="2468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杀手锏结论</a:t>
            </a:r>
            <a:endParaRPr sz="15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覆盖极不均衡</a:t>
            </a:r>
            <a:endParaRPr sz="1500" b="0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BFAS / HEXACO 完全没覆盖“思想开放”</a:t>
            </a:r>
            <a:endParaRPr sz="1500" b="0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NEO 与 Woo 最广（各 9 个 facet）</a:t>
            </a:r>
            <a:endParaRPr sz="1500" b="0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Woo 最均衡、题量最大，覆盖最全面</a:t>
            </a:r>
            <a:endParaRPr sz="1500" b="0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9" name="Picture 18" descr="量表各自网络图-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0" y="1879756"/>
            <a:ext cx="5852160" cy="3995107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95" y="1879600"/>
            <a:ext cx="5681980" cy="3834130"/>
          </a:xfrm>
          <a:prstGeom prst="rect">
            <a:avLst/>
          </a:prstGeom>
        </p:spPr>
      </p:pic>
      <p:sp>
        <p:nvSpPr>
          <p:cNvPr id="21" name="文本框 20"/>
          <p:cNvSpPr txBox="1"/>
          <p:nvPr/>
        </p:nvSpPr>
        <p:spPr>
          <a:xfrm>
            <a:off x="590550" y="1083945"/>
            <a:ext cx="55060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左图：原文章</a:t>
            </a:r>
            <a:r>
              <a:rPr lang="en-US" altLang="zh-CN"/>
              <a:t> </a:t>
            </a:r>
            <a:r>
              <a:rPr lang="zh-CN" altLang="en-US"/>
              <a:t>右图：我</a:t>
            </a:r>
            <a:r>
              <a:rPr lang="zh-CN" altLang="en-US"/>
              <a:t>复现的</a:t>
            </a:r>
            <a:endParaRPr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645" y="113030"/>
            <a:ext cx="6588125" cy="392430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318770" y="4278630"/>
            <a:ext cx="8152765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和</a:t>
            </a:r>
            <a:r>
              <a:rPr lang="zh-CN" altLang="en-US"/>
              <a:t>我的 </a:t>
            </a:r>
            <a:r>
              <a:rPr lang="en-US" altLang="zh-CN"/>
              <a:t>m10 </a:t>
            </a:r>
            <a:r>
              <a:rPr lang="zh-CN" altLang="en-US"/>
              <a:t>比大小（各按从小到大排）：</a:t>
            </a:r>
            <a:endParaRPr lang="zh-CN" altLang="en-US"/>
          </a:p>
          <a:p>
            <a:r>
              <a:rPr lang="zh-CN" altLang="en-US"/>
              <a:t>题目数量</a:t>
            </a:r>
            <a:endParaRPr lang="en-US" altLang="zh-CN"/>
          </a:p>
          <a:p>
            <a:r>
              <a:rPr lang="zh-CN" altLang="en-US"/>
              <a:t>论文：7, 7, 10, 12, 12, 14, 14, 17, 20, 25</a:t>
            </a:r>
            <a:endParaRPr lang="zh-CN" altLang="en-US"/>
          </a:p>
          <a:p>
            <a:r>
              <a:rPr lang="zh-CN" altLang="en-US"/>
              <a:t>你的 </a:t>
            </a:r>
            <a:r>
              <a:rPr lang="en-US" altLang="zh-CN"/>
              <a:t>m10：6, 6, 10, 11, 12, 14, 15, 20, 20, 24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逐档差距是 1,1,0,1,0,0,1,3,0,1——九个社区都在 ±1 题以内，只有一个差 3 题，最大社区 25↔24、最小社区 7↔6 都对上了。这是很强的结构复现：10 个 </a:t>
            </a:r>
            <a:r>
              <a:rPr lang="en-US" altLang="zh-CN"/>
              <a:t>facet、3 </a:t>
            </a:r>
            <a:r>
              <a:rPr lang="zh-CN" altLang="en-US"/>
              <a:t>个 </a:t>
            </a:r>
            <a:r>
              <a:rPr lang="en-US" altLang="zh-CN"/>
              <a:t>aspect </a:t>
            </a:r>
            <a:r>
              <a:rPr lang="zh-CN" altLang="en-US"/>
              <a:t>全在，题数几乎一致。</a:t>
            </a:r>
            <a:endParaRPr lang="zh-CN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sz="3000" b="1" i="0">
                <a:solidFill>
                  <a:srgbClr val="1E276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复现对照：社区结构的一致程度</a:t>
            </a:r>
            <a:endParaRPr sz="3000" b="1" i="0">
              <a:solidFill>
                <a:srgbClr val="1E276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40080" y="1554480"/>
            <a:ext cx="2926080" cy="164592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29260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sz="4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92.8%</a:t>
            </a:r>
            <a:endParaRPr sz="4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2514600"/>
            <a:ext cx="29260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sz="1300" b="0" i="0">
                <a:solidFill>
                  <a:srgbClr val="CADC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逐题一致率 128/138</a:t>
            </a:r>
            <a:endParaRPr sz="1300" b="0" i="0">
              <a:solidFill>
                <a:srgbClr val="CADC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0079" y="3529330"/>
            <a:ext cx="310896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E276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▸ </a:t>
            </a:r>
            <a:r>
              <a:rPr sz="150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 社区与论文一对一全部还原</a:t>
            </a:r>
            <a:endParaRPr sz="150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</a:pPr>
            <a:r>
              <a:rPr sz="1500" b="0" i="0">
                <a:solidFill>
                  <a:srgbClr val="1E276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▸ </a:t>
            </a:r>
            <a:r>
              <a:rPr sz="150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 个 facet 100% 一致，其余 73–92%</a:t>
            </a:r>
            <a:endParaRPr sz="150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</a:pPr>
            <a:r>
              <a:rPr sz="1500" b="1" i="0">
                <a:solidFill>
                  <a:srgbClr val="F961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▸ </a:t>
            </a:r>
            <a:r>
              <a:rPr sz="1500" b="1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仅 10 道边界题摆动</a:t>
            </a:r>
            <a:endParaRPr sz="1500" b="1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79645" y="1111885"/>
            <a:ext cx="7412355" cy="56972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sz="3000" b="1" i="0">
                <a:solidFill>
                  <a:srgbClr val="1E276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重点修改①：社区切法 10 vs 8</a:t>
            </a:r>
            <a:endParaRPr sz="3000" b="1" i="0">
              <a:solidFill>
                <a:srgbClr val="1E276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10058400" y="502920"/>
            <a:ext cx="1783080" cy="384048"/>
          </a:xfrm>
          <a:prstGeom prst="roundRect">
            <a:avLst>
              <a:gd name="adj" fmla="val 50000"/>
            </a:avLst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协作记忆点</a:t>
            </a:r>
            <a:endParaRPr sz="12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5760720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E276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▸ </a:t>
            </a:r>
            <a:r>
              <a:rPr sz="150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现象：新版 igraph 跑 walktrap 自动切出 8 个社区，不是论文的 10</a:t>
            </a:r>
            <a:endParaRPr sz="150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900"/>
              </a:spcBef>
              <a:spcAft>
                <a:spcPts val="0"/>
              </a:spcAft>
            </a:pPr>
            <a:r>
              <a:rPr sz="1500" b="1" i="0">
                <a:solidFill>
                  <a:srgbClr val="F961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▸ </a:t>
            </a:r>
            <a:r>
              <a:rPr sz="1500" b="1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根因：igraph 版本漂移（方法零差异）</a:t>
            </a:r>
            <a:endParaRPr sz="1500" b="1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1" algn="l">
              <a:lnSpc>
                <a:spcPct val="112000"/>
              </a:lnSpc>
              <a:spcBef>
                <a:spcPts val="900"/>
              </a:spcBef>
              <a:spcAft>
                <a:spcPts val="0"/>
              </a:spcAft>
            </a:pPr>
            <a:r>
              <a:rPr sz="1500" b="0" i="0">
                <a:solidFill>
                  <a:srgbClr val="1E276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</a:t>
            </a:r>
            <a:r>
              <a:rPr sz="150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模块度：8 类 = 0.722 ＞ 10 类 = 0.712（几乎一样好）</a:t>
            </a:r>
            <a:endParaRPr sz="150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900"/>
              </a:spcBef>
              <a:spcAft>
                <a:spcPts val="0"/>
              </a:spcAft>
            </a:pPr>
            <a:r>
              <a:rPr sz="1500" b="0" i="0">
                <a:solidFill>
                  <a:srgbClr val="1E276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▸ </a:t>
            </a:r>
            <a:r>
              <a:rPr sz="150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处理：cut_at(no = 10) 强制切回 10，对齐论文</a:t>
            </a:r>
            <a:endParaRPr sz="150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40080" y="4160520"/>
            <a:ext cx="5760720" cy="1234440"/>
          </a:xfrm>
          <a:prstGeom prst="roundRect">
            <a:avLst>
              <a:gd name="adj" fmla="val 4000"/>
            </a:avLst>
          </a:prstGeom>
          <a:solidFill>
            <a:srgbClr val="222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4306824"/>
            <a:ext cx="5358384" cy="9418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9AA0B5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wc  &lt;- walktrap.community(g)   # 自动切 = 8</a:t>
            </a:r>
            <a:endParaRPr sz="1300" b="0" i="0">
              <a:solidFill>
                <a:srgbClr val="9AA0B5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E6E6F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m10 &lt;- igraph::cut_at(wc, no = 10)  # 强切 10</a:t>
            </a:r>
            <a:endParaRPr sz="1300" b="0" i="0">
              <a:solidFill>
                <a:srgbClr val="E6E6F0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E6E6F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igraph::modularity(g, m10)     # 0.712</a:t>
            </a:r>
            <a:endParaRPr sz="1300" b="0" i="0">
              <a:solidFill>
                <a:srgbClr val="E6E6F0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675120" y="1508760"/>
            <a:ext cx="50292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sz="1300" b="1" i="0">
                <a:solidFill>
                  <a:srgbClr val="1E276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版本</a:t>
            </a:r>
            <a:r>
              <a:rPr lang="zh-CN" sz="1300" b="1" i="0">
                <a:solidFill>
                  <a:srgbClr val="1E276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证明</a:t>
            </a:r>
            <a:r>
              <a:rPr sz="1300" b="1" i="0">
                <a:solidFill>
                  <a:srgbClr val="1E276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（本机）：</a:t>
            </a:r>
            <a:endParaRPr sz="1300" b="1" i="0">
              <a:solidFill>
                <a:srgbClr val="1E276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1" name="Picture 10" descr="R包的版本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0" y="1896110"/>
            <a:ext cx="5029200" cy="124142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675120" y="416052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sz="1300" b="1" i="0">
                <a:solidFill>
                  <a:srgbClr val="1E276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我的修正代码：</a:t>
            </a:r>
            <a:endParaRPr sz="1300" b="1" i="0">
              <a:solidFill>
                <a:srgbClr val="1E276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3" name="Picture 12" descr="修改后的代码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4730115"/>
            <a:ext cx="5029200" cy="151758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2" name="Picture 11" descr="修改后的代码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0250" y="426720"/>
            <a:ext cx="6654800" cy="567880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view查看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40" y="0"/>
            <a:ext cx="8872220" cy="548957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sz="3000" b="1" i="0">
                <a:solidFill>
                  <a:srgbClr val="1E276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重点修改②：原始数据缺分组变量</a:t>
            </a:r>
            <a:endParaRPr sz="3000" b="1" i="0">
              <a:solidFill>
                <a:srgbClr val="1E276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5760720" cy="2103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E276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▸ </a:t>
            </a:r>
            <a:r>
              <a:rPr sz="150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问题：分析文件只有无关的 DBHTgroup，没有 MANOVA 需要的 Group 列</a:t>
            </a:r>
            <a:endParaRPr sz="150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1" algn="l">
              <a:lnSpc>
                <a:spcPct val="112000"/>
              </a:lnSpc>
              <a:spcBef>
                <a:spcPts val="900"/>
              </a:spcBef>
              <a:spcAft>
                <a:spcPts val="0"/>
              </a:spcAft>
            </a:pPr>
            <a:r>
              <a:rPr sz="1500" b="0" i="0">
                <a:solidFill>
                  <a:srgbClr val="1E276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</a:t>
            </a:r>
            <a:r>
              <a:rPr sz="1500" b="0" i="0">
                <a:solidFill>
                  <a:srgbClr val="F961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 直接跑原脚本报“找不到对象 Group”</a:t>
            </a:r>
            <a:endParaRPr sz="1500" b="0" i="0">
              <a:solidFill>
                <a:srgbClr val="F9616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900"/>
              </a:spcBef>
              <a:spcAft>
                <a:spcPts val="0"/>
              </a:spcAft>
            </a:pPr>
            <a:r>
              <a:rPr sz="1500" b="1" i="0">
                <a:solidFill>
                  <a:srgbClr val="1E276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▸ </a:t>
            </a:r>
            <a:r>
              <a:rPr sz="1500" b="1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解决：用 138 题“响应指纹”把 802 人匹配回三个源文件</a:t>
            </a:r>
            <a:endParaRPr sz="1500" b="1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1" algn="l">
              <a:lnSpc>
                <a:spcPct val="112000"/>
              </a:lnSpc>
              <a:spcBef>
                <a:spcPts val="900"/>
              </a:spcBef>
              <a:spcAft>
                <a:spcPts val="0"/>
              </a:spcAft>
            </a:pPr>
            <a:r>
              <a:rPr sz="1500" b="0" i="0">
                <a:solidFill>
                  <a:srgbClr val="1E276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</a:t>
            </a:r>
            <a:r>
              <a:rPr sz="1500" b="0" i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（Fall 2015 / Spring 2017 / Mturk）</a:t>
            </a:r>
            <a:endParaRPr sz="1500" b="0" i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40080" y="3794760"/>
            <a:ext cx="5760720" cy="11430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913632"/>
            <a:ext cx="57607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重建 Group = 176 / 108 / 518</a:t>
            </a:r>
            <a:endParaRPr sz="26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0080" y="4498848"/>
            <a:ext cx="57607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sz="1400" b="0" i="0">
                <a:solidFill>
                  <a:srgbClr val="02A8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与论文 SI 7、Data Cleaning Notes 三方一致 ✓</a:t>
            </a:r>
            <a:endParaRPr sz="1400" b="0" i="0">
              <a:solidFill>
                <a:srgbClr val="02A88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40080" y="5120640"/>
            <a:ext cx="5760720" cy="1234440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5230368"/>
            <a:ext cx="534924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</a:pPr>
            <a:r>
              <a:rPr sz="130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为什么唯一：每人答 138 题（1–5 分），完整应答序列几乎唯一（5^138 种组合），可当“指纹”无损反查样本来源。</a:t>
            </a:r>
            <a:endParaRPr sz="130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675120" y="813435"/>
            <a:ext cx="2768600" cy="20193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sz="1300" b="1" i="0">
                <a:solidFill>
                  <a:srgbClr val="1E276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我的指纹重建 + MANOVA 代码：</a:t>
            </a:r>
            <a:endParaRPr sz="1300" b="1" i="0">
              <a:solidFill>
                <a:srgbClr val="1E276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2" name="Picture 11" descr="修改后的代码4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98920" y="1224915"/>
            <a:ext cx="5468620" cy="537845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sz="3000" b="1" i="0">
                <a:solidFill>
                  <a:srgbClr val="1E276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结果：MANOVA + Box's M 精确命中</a:t>
            </a:r>
            <a:endParaRPr sz="3000" b="1" i="0">
              <a:solidFill>
                <a:srgbClr val="1E276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91640"/>
          <a:ext cx="667512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234440"/>
                <a:gridCol w="960120"/>
                <a:gridCol w="1143000"/>
                <a:gridCol w="960120"/>
              </a:tblGrid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比较</a:t>
                      </a:r>
                      <a:endParaRPr sz="1400" b="1" i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1600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复现 Pillai</a:t>
                      </a:r>
                      <a:endParaRPr sz="1400" b="1" i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1600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论文</a:t>
                      </a:r>
                      <a:endParaRPr sz="1400" b="1" i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1600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复现 F</a:t>
                      </a:r>
                      <a:endParaRPr sz="1400" b="1" i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1600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论文 F</a:t>
                      </a:r>
                      <a:endParaRPr sz="1400" b="1" i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1600" anchor="ctr">
                    <a:solidFill>
                      <a:srgbClr val="1E276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三组整体</a:t>
                      </a:r>
                      <a:endParaRPr sz="140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2937"/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.9596</a:t>
                      </a:r>
                      <a:endParaRPr sz="1400" b="0" i="0">
                        <a:solidFill>
                          <a:srgbClr val="1F2937"/>
                        </a:solidFill>
                        <a:latin typeface="Consolas" panose="020B0609020204030204"/>
                        <a:ea typeface="Consolas" panose="020B0609020204030204"/>
                        <a:cs typeface="Consolas" panose="020B0609020204030204"/>
                      </a:endParaRPr>
                    </a:p>
                  </a:txBody>
                  <a:tcPr marL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2937"/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.960</a:t>
                      </a:r>
                      <a:endParaRPr sz="1400" b="0" i="0">
                        <a:solidFill>
                          <a:srgbClr val="1F2937"/>
                        </a:solidFill>
                        <a:latin typeface="Consolas" panose="020B0609020204030204"/>
                        <a:ea typeface="Consolas" panose="020B0609020204030204"/>
                        <a:cs typeface="Consolas" panose="020B0609020204030204"/>
                      </a:endParaRPr>
                    </a:p>
                  </a:txBody>
                  <a:tcPr marL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2937"/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4.43</a:t>
                      </a:r>
                      <a:endParaRPr sz="1400" b="0" i="0">
                        <a:solidFill>
                          <a:srgbClr val="1F2937"/>
                        </a:solidFill>
                        <a:latin typeface="Consolas" panose="020B0609020204030204"/>
                        <a:ea typeface="Consolas" panose="020B0609020204030204"/>
                        <a:cs typeface="Consolas" panose="020B0609020204030204"/>
                      </a:endParaRPr>
                    </a:p>
                  </a:txBody>
                  <a:tcPr marL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2937"/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4.43</a:t>
                      </a:r>
                      <a:endParaRPr sz="1400" b="0" i="0">
                        <a:solidFill>
                          <a:srgbClr val="1F2937"/>
                        </a:solidFill>
                        <a:latin typeface="Consolas" panose="020B0609020204030204"/>
                        <a:ea typeface="Consolas" panose="020B0609020204030204"/>
                        <a:cs typeface="Consolas" panose="020B0609020204030204"/>
                      </a:endParaRPr>
                    </a:p>
                  </a:txBody>
                  <a:tcPr marL="10160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 vs 2（Fall×Spring）</a:t>
                      </a:r>
                      <a:endParaRPr sz="140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1600" anchor="ctr"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2937"/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.650</a:t>
                      </a:r>
                      <a:endParaRPr sz="1400" b="0" i="0">
                        <a:solidFill>
                          <a:srgbClr val="1F2937"/>
                        </a:solidFill>
                        <a:latin typeface="Consolas" panose="020B0609020204030204"/>
                        <a:ea typeface="Consolas" panose="020B0609020204030204"/>
                        <a:cs typeface="Consolas" panose="020B0609020204030204"/>
                      </a:endParaRPr>
                    </a:p>
                  </a:txBody>
                  <a:tcPr marL="101600" anchor="ctr"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2937"/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.650</a:t>
                      </a:r>
                      <a:endParaRPr sz="1400" b="0" i="0">
                        <a:solidFill>
                          <a:srgbClr val="1F2937"/>
                        </a:solidFill>
                        <a:latin typeface="Consolas" panose="020B0609020204030204"/>
                        <a:ea typeface="Consolas" panose="020B0609020204030204"/>
                        <a:cs typeface="Consolas" panose="020B0609020204030204"/>
                      </a:endParaRPr>
                    </a:p>
                  </a:txBody>
                  <a:tcPr marL="101600" anchor="ctr"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2937"/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1.95</a:t>
                      </a:r>
                      <a:endParaRPr sz="1400" b="0" i="0">
                        <a:solidFill>
                          <a:srgbClr val="1F2937"/>
                        </a:solidFill>
                        <a:latin typeface="Consolas" panose="020B0609020204030204"/>
                        <a:ea typeface="Consolas" panose="020B0609020204030204"/>
                        <a:cs typeface="Consolas" panose="020B0609020204030204"/>
                      </a:endParaRPr>
                    </a:p>
                  </a:txBody>
                  <a:tcPr marL="101600" anchor="ctr"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2937"/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1.95</a:t>
                      </a:r>
                      <a:endParaRPr sz="1400" b="0" i="0">
                        <a:solidFill>
                          <a:srgbClr val="1F2937"/>
                        </a:solidFill>
                        <a:latin typeface="Consolas" panose="020B0609020204030204"/>
                        <a:ea typeface="Consolas" panose="020B0609020204030204"/>
                        <a:cs typeface="Consolas" panose="020B0609020204030204"/>
                      </a:endParaRPr>
                    </a:p>
                  </a:txBody>
                  <a:tcPr marL="101600" anchor="ctr">
                    <a:solidFill>
                      <a:srgbClr val="F1F4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 vs 3（Fall×Mturk）</a:t>
                      </a:r>
                      <a:endParaRPr sz="140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2937"/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.675</a:t>
                      </a:r>
                      <a:endParaRPr sz="1400" b="0" i="0">
                        <a:solidFill>
                          <a:srgbClr val="1F2937"/>
                        </a:solidFill>
                        <a:latin typeface="Consolas" panose="020B0609020204030204"/>
                        <a:ea typeface="Consolas" panose="020B0609020204030204"/>
                        <a:cs typeface="Consolas" panose="020B0609020204030204"/>
                      </a:endParaRPr>
                    </a:p>
                  </a:txBody>
                  <a:tcPr marL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2937"/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.675</a:t>
                      </a:r>
                      <a:endParaRPr sz="1400" b="0" i="0">
                        <a:solidFill>
                          <a:srgbClr val="1F2937"/>
                        </a:solidFill>
                        <a:latin typeface="Consolas" panose="020B0609020204030204"/>
                        <a:ea typeface="Consolas" panose="020B0609020204030204"/>
                        <a:cs typeface="Consolas" panose="020B0609020204030204"/>
                      </a:endParaRPr>
                    </a:p>
                  </a:txBody>
                  <a:tcPr marL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2937"/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8.34</a:t>
                      </a:r>
                      <a:endParaRPr sz="1400" b="0" i="0">
                        <a:solidFill>
                          <a:srgbClr val="1F2937"/>
                        </a:solidFill>
                        <a:latin typeface="Consolas" panose="020B0609020204030204"/>
                        <a:ea typeface="Consolas" panose="020B0609020204030204"/>
                        <a:cs typeface="Consolas" panose="020B0609020204030204"/>
                      </a:endParaRPr>
                    </a:p>
                  </a:txBody>
                  <a:tcPr marL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2937"/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8.34</a:t>
                      </a:r>
                      <a:endParaRPr sz="1400" b="0" i="0">
                        <a:solidFill>
                          <a:srgbClr val="1F2937"/>
                        </a:solidFill>
                        <a:latin typeface="Consolas" panose="020B0609020204030204"/>
                        <a:ea typeface="Consolas" panose="020B0609020204030204"/>
                        <a:cs typeface="Consolas" panose="020B0609020204030204"/>
                      </a:endParaRPr>
                    </a:p>
                  </a:txBody>
                  <a:tcPr marL="10160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 vs 3（Spring×Mturk）</a:t>
                      </a:r>
                      <a:endParaRPr sz="140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1600" anchor="ctr"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2937"/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.614</a:t>
                      </a:r>
                      <a:endParaRPr sz="1400" b="0" i="0">
                        <a:solidFill>
                          <a:srgbClr val="1F2937"/>
                        </a:solidFill>
                        <a:latin typeface="Consolas" panose="020B0609020204030204"/>
                        <a:ea typeface="Consolas" panose="020B0609020204030204"/>
                        <a:cs typeface="Consolas" panose="020B0609020204030204"/>
                      </a:endParaRPr>
                    </a:p>
                  </a:txBody>
                  <a:tcPr marL="101600" anchor="ctr"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2937"/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.614</a:t>
                      </a:r>
                      <a:endParaRPr sz="1400" b="0" i="0">
                        <a:solidFill>
                          <a:srgbClr val="1F2937"/>
                        </a:solidFill>
                        <a:latin typeface="Consolas" panose="020B0609020204030204"/>
                        <a:ea typeface="Consolas" panose="020B0609020204030204"/>
                        <a:cs typeface="Consolas" panose="020B0609020204030204"/>
                      </a:endParaRPr>
                    </a:p>
                  </a:txBody>
                  <a:tcPr marL="101600" anchor="ctr"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2937"/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5.62</a:t>
                      </a:r>
                      <a:endParaRPr sz="1400" b="0" i="0">
                        <a:solidFill>
                          <a:srgbClr val="1F2937"/>
                        </a:solidFill>
                        <a:latin typeface="Consolas" panose="020B0609020204030204"/>
                        <a:ea typeface="Consolas" panose="020B0609020204030204"/>
                        <a:cs typeface="Consolas" panose="020B0609020204030204"/>
                      </a:endParaRPr>
                    </a:p>
                  </a:txBody>
                  <a:tcPr marL="101600" anchor="ctr"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2937"/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5.62</a:t>
                      </a:r>
                      <a:endParaRPr sz="1400" b="0" i="0">
                        <a:solidFill>
                          <a:srgbClr val="1F2937"/>
                        </a:solidFill>
                        <a:latin typeface="Consolas" panose="020B0609020204030204"/>
                        <a:ea typeface="Consolas" panose="020B0609020204030204"/>
                        <a:cs typeface="Consolas" panose="020B0609020204030204"/>
                      </a:endParaRPr>
                    </a:p>
                  </a:txBody>
                  <a:tcPr marL="101600" anchor="ctr">
                    <a:solidFill>
                      <a:srgbClr val="F1F4FA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955279" y="169164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83879" y="1828800"/>
            <a:ext cx="320040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sz="1500" b="1" i="0">
                <a:solidFill>
                  <a:srgbClr val="1E276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Box's M（1 vs 3）</a:t>
            </a:r>
            <a:endParaRPr sz="1500" b="1" i="0">
              <a:solidFill>
                <a:srgbClr val="1E276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</a:pPr>
            <a:r>
              <a:rPr sz="1400" b="0" i="0">
                <a:solidFill>
                  <a:srgbClr val="1F293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χ² = 12891  df = 9591  p &lt; .001</a:t>
            </a:r>
            <a:endParaRPr sz="1400" b="0" i="0">
              <a:solidFill>
                <a:srgbClr val="1F293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</a:pPr>
            <a:r>
              <a:rPr sz="1300" b="0" i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三组协方差结构显著不齐</a:t>
            </a:r>
            <a:endParaRPr sz="1300" b="0" i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</a:pPr>
            <a:r>
              <a:rPr sz="1200" b="0" i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样本2 (n=108&lt;138) 奇异，无法算 → 只检验 1 vs 3</a:t>
            </a:r>
            <a:endParaRPr sz="1200" b="0" i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955279" y="3657600"/>
            <a:ext cx="3566160" cy="1097280"/>
          </a:xfrm>
          <a:prstGeom prst="roundRect">
            <a:avLst>
              <a:gd name="adj" fmla="val 10000"/>
            </a:avLst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79" y="3657600"/>
            <a:ext cx="3566160" cy="1097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 个 MANOVA 全部命中 ✓</a:t>
            </a:r>
            <a:endParaRPr sz="18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0080" y="5852160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sz="1300" b="0" i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百分误差 ≈ 0（Pillai .9596 vs .960 ≈ 0.04%），按原文报告精度四舍五入逐一相等。</a:t>
            </a:r>
            <a:endParaRPr sz="1300" b="0" i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sz="3000" b="1" i="0">
                <a:solidFill>
                  <a:srgbClr val="1E276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复现对照表①：推断统计（原文方法）</a:t>
            </a:r>
            <a:endParaRPr sz="3000" b="1" i="0">
              <a:solidFill>
                <a:srgbClr val="1E276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45920"/>
          <a:ext cx="1088136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1828800"/>
                <a:gridCol w="2468880"/>
                <a:gridCol w="2468880"/>
                <a:gridCol w="1645920"/>
              </a:tblGrid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效应（统计量）</a:t>
                      </a:r>
                      <a:endParaRPr sz="1300" b="1" i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1600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原文</a:t>
                      </a:r>
                      <a:endParaRPr sz="1300" b="1" i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1600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本研究·10社区</a:t>
                      </a:r>
                      <a:endParaRPr sz="1300" b="1" i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1600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Claude code·8社区</a:t>
                      </a:r>
                      <a:endParaRPr sz="1300" b="1" i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1600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评级</a:t>
                      </a:r>
                      <a:endParaRPr sz="1300" b="1" i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1600" anchor="ctr">
                    <a:solidFill>
                      <a:srgbClr val="1E276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整体 MANOVA  F</a:t>
                      </a:r>
                      <a:endParaRPr sz="120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4.43</a:t>
                      </a:r>
                      <a:endParaRPr sz="120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4.4308</a:t>
                      </a:r>
                      <a:endParaRPr sz="120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4.4308</a:t>
                      </a:r>
                      <a:endParaRPr sz="120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02A888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完全一致</a:t>
                      </a:r>
                      <a:endParaRPr sz="1200" b="1" i="0">
                        <a:solidFill>
                          <a:srgbClr val="02A88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1600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整体  Pillai</a:t>
                      </a:r>
                      <a:endParaRPr sz="120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1600" anchor="ctr"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.960</a:t>
                      </a:r>
                      <a:endParaRPr sz="120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1600" anchor="ctr"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.9596</a:t>
                      </a:r>
                      <a:endParaRPr sz="120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1600" anchor="ctr"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.9596</a:t>
                      </a:r>
                      <a:endParaRPr sz="120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1600" anchor="ctr"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02A888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完全一致</a:t>
                      </a:r>
                      <a:endParaRPr sz="1200" b="1" i="0">
                        <a:solidFill>
                          <a:srgbClr val="02A88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1600" anchor="ctr">
                    <a:solidFill>
                      <a:srgbClr val="F1F4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1v2  F / Pillai</a:t>
                      </a:r>
                      <a:endParaRPr sz="120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1.95 / .650</a:t>
                      </a:r>
                      <a:endParaRPr sz="120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1.9516 / .650</a:t>
                      </a:r>
                      <a:endParaRPr sz="120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1.9516 / .650</a:t>
                      </a:r>
                      <a:endParaRPr sz="120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02A888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完全一致</a:t>
                      </a:r>
                      <a:endParaRPr sz="1200" b="1" i="0">
                        <a:solidFill>
                          <a:srgbClr val="02A88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1600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1v3  F / Pillai</a:t>
                      </a:r>
                      <a:endParaRPr sz="120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1600" anchor="ctr"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8.34 / .675</a:t>
                      </a:r>
                      <a:endParaRPr sz="120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1600" anchor="ctr"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8.3412 / .6747</a:t>
                      </a:r>
                      <a:endParaRPr sz="120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1600" anchor="ctr"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8.3412 / .6747</a:t>
                      </a:r>
                      <a:endParaRPr sz="120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1600" anchor="ctr"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02A888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完全一致</a:t>
                      </a:r>
                      <a:endParaRPr sz="1200" b="1" i="0">
                        <a:solidFill>
                          <a:srgbClr val="02A88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1600" anchor="ctr">
                    <a:solidFill>
                      <a:srgbClr val="F1F4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2v3  F / Pillai</a:t>
                      </a:r>
                      <a:endParaRPr sz="120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5.62 / .614</a:t>
                      </a:r>
                      <a:endParaRPr sz="120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5.6191 / .6142</a:t>
                      </a:r>
                      <a:endParaRPr sz="120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5.6191 / .6142</a:t>
                      </a:r>
                      <a:endParaRPr sz="120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02A888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完全一致</a:t>
                      </a:r>
                      <a:endParaRPr sz="1200" b="1" i="0">
                        <a:solidFill>
                          <a:srgbClr val="02A88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1600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Box's M (1v3)</a:t>
                      </a:r>
                      <a:endParaRPr sz="120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1600" anchor="ctr"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F=1.292</a:t>
                      </a:r>
                      <a:endParaRPr sz="120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1600" anchor="ctr"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χ²=12891 (df=9591)</a:t>
                      </a:r>
                      <a:endParaRPr sz="120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1600" anchor="ctr"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同左</a:t>
                      </a:r>
                      <a:endParaRPr sz="120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1600" anchor="ctr"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02A888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完全一致*</a:t>
                      </a:r>
                      <a:endParaRPr sz="1200" b="1" i="0">
                        <a:solidFill>
                          <a:srgbClr val="02A88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1600" anchor="ctr">
                    <a:solidFill>
                      <a:srgbClr val="F1F4F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5989320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</a:pPr>
            <a:r>
              <a:rPr sz="1100" b="0" i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* Box's M：R 报卡方近似、原文报 F 近似，同一检验两种换算，df=9591 一致、p&lt;.001 推论一致。两版复现（10社区/8社区）MANOVA 与社区数无关，数值逐字一致，互为独立交叉验证。</a:t>
            </a:r>
            <a:endParaRPr sz="1100" b="0" i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sz="3000" b="1" i="0">
                <a:solidFill>
                  <a:srgbClr val="1E276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复现对照表②：可复现性与推论一致性评级</a:t>
            </a:r>
            <a:endParaRPr sz="3000" b="1" i="0">
              <a:solidFill>
                <a:srgbClr val="1E276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3383280" cy="219456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148840"/>
            <a:ext cx="33832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sz="46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14 / 14</a:t>
            </a:r>
            <a:endParaRPr sz="46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3154680"/>
            <a:ext cx="33832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结果可复现性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1200" b="0" i="0">
                <a:solidFill>
                  <a:srgbClr val="CADC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完全一致（δ = 0%）</a:t>
            </a:r>
            <a:endParaRPr sz="1200" b="0" i="0">
              <a:solidFill>
                <a:srgbClr val="CADC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389120" y="1828800"/>
            <a:ext cx="3383280" cy="219456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0" y="2148840"/>
            <a:ext cx="33832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sz="46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 / 5</a:t>
            </a:r>
            <a:endParaRPr sz="46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389120" y="3154680"/>
            <a:ext cx="33832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推论一致性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1200" b="0" i="0">
                <a:solidFill>
                  <a:srgbClr val="CADC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原文与复现同侧（100%）</a:t>
            </a:r>
            <a:endParaRPr sz="1200" b="0" i="0">
              <a:solidFill>
                <a:srgbClr val="CADC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138160" y="1828800"/>
            <a:ext cx="3383280" cy="219456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60" y="2148840"/>
            <a:ext cx="33832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sz="46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 / 4</a:t>
            </a:r>
            <a:endParaRPr sz="46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138160" y="3154680"/>
            <a:ext cx="33832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描述统计·样本量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1200" b="0" i="0">
                <a:solidFill>
                  <a:srgbClr val="CADC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完全一致（802/176/108/518）</a:t>
            </a:r>
            <a:endParaRPr sz="1200" b="0" i="0">
              <a:solidFill>
                <a:srgbClr val="CADC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40080" y="4480560"/>
            <a:ext cx="10881360" cy="1371600"/>
          </a:xfrm>
          <a:prstGeom prst="roundRect">
            <a:avLst>
              <a:gd name="adj" fmla="val 6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889818"/>
            <a:ext cx="10424160" cy="5988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sz="1500" b="1" i="0">
                <a:solidFill>
                  <a:srgbClr val="1E276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评级三档：</a:t>
            </a:r>
            <a:r>
              <a:rPr sz="150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完全一致 (0%)  /  次要偏差 (0%&lt;δ&lt;10%)  /  主要偏差 (≥10%)</a:t>
            </a:r>
            <a:endParaRPr sz="150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</a:pPr>
            <a:r>
              <a:rPr sz="150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本复现 14 项推断结果全部落入“完全一致”，5 个统计推断全部与原文同侧。</a:t>
            </a:r>
            <a:endParaRPr sz="150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sz="3000" b="1" i="0">
                <a:solidFill>
                  <a:srgbClr val="1E276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复现对照表③：(不)可复现原因分析</a:t>
            </a:r>
            <a:endParaRPr sz="3000" b="1" i="0">
              <a:solidFill>
                <a:srgbClr val="1E276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40080" y="1691640"/>
            <a:ext cx="146304" cy="914400"/>
          </a:xfrm>
          <a:prstGeom prst="roundRect">
            <a:avLst>
              <a:gd name="adj" fmla="val 50000"/>
            </a:avLst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91640"/>
            <a:ext cx="1051560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sz="1600" b="1" i="0">
                <a:solidFill>
                  <a:srgbClr val="F961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软件包版本（igraph）</a:t>
            </a:r>
            <a:endParaRPr sz="1600" b="1" i="0">
              <a:solidFill>
                <a:srgbClr val="F9616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300"/>
              </a:spcBef>
              <a:spcAft>
                <a:spcPts val="0"/>
              </a:spcAft>
            </a:pPr>
            <a:r>
              <a:rPr sz="130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唯一造成结构差异的因素 —— walktrap 默认社区数 10-&gt;8；cut_at 强切回 10 后逐一致。已定位、可控。</a:t>
            </a:r>
            <a:endParaRPr sz="130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40080" y="2770632"/>
            <a:ext cx="146304" cy="91440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770632"/>
            <a:ext cx="1051560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sz="1600" b="1" i="0">
                <a:solidFill>
                  <a:srgbClr val="1E276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OSF 数据缺分组变量</a:t>
            </a:r>
            <a:endParaRPr sz="1600" b="1" i="0">
              <a:solidFill>
                <a:srgbClr val="1E276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300"/>
              </a:spcBef>
              <a:spcAft>
                <a:spcPts val="0"/>
              </a:spcAft>
            </a:pPr>
            <a:r>
              <a:rPr sz="130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分析文件缺 Group 列（仅有无关 DBHTgroup）-&gt; 用 138 题指纹重建 176/108/518。</a:t>
            </a:r>
            <a:endParaRPr sz="130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40080" y="3849624"/>
            <a:ext cx="146304" cy="91440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849624"/>
            <a:ext cx="1051560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sz="1600" b="1" i="0">
                <a:solidFill>
                  <a:srgbClr val="1E276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未提供原始数据</a:t>
            </a:r>
            <a:endParaRPr sz="1600" b="1" i="0">
              <a:solidFill>
                <a:srgbClr val="1E276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300"/>
              </a:spcBef>
              <a:spcAft>
                <a:spcPts val="0"/>
              </a:spcAft>
            </a:pPr>
            <a:r>
              <a:rPr sz="130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仅公开处理后数据，原清洗在 SPSS；合规采用处理后数据。</a:t>
            </a:r>
            <a:endParaRPr sz="130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40080" y="4928616"/>
            <a:ext cx="146304" cy="91440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928616"/>
            <a:ext cx="1051560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sz="1600" b="1" i="0">
                <a:solidFill>
                  <a:srgbClr val="1E276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缺 readme 说明</a:t>
            </a:r>
            <a:endParaRPr sz="1600" b="1" i="0">
              <a:solidFill>
                <a:srgbClr val="1E276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300"/>
              </a:spcBef>
              <a:spcAft>
                <a:spcPts val="0"/>
              </a:spcAft>
            </a:pPr>
            <a:r>
              <a:rPr sz="130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OSF 未见 readme，增加理解数据/代码对应关系的成本。</a:t>
            </a:r>
            <a:endParaRPr sz="130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40080" y="5989320"/>
            <a:ext cx="10881360" cy="502920"/>
          </a:xfrm>
          <a:prstGeom prst="roundRect">
            <a:avLst>
              <a:gd name="adj" fmla="val 10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5989320"/>
            <a:ext cx="104241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sz="1300" b="1" i="0">
                <a:solidFill>
                  <a:srgbClr val="1E276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整体：结果 100% 一致、推论 100% 一致；仅社区结构因 igraph 版本出现 10-&gt;8 的可控差异。</a:t>
            </a:r>
            <a:endParaRPr sz="1300" b="1" i="0">
              <a:solidFill>
                <a:srgbClr val="1E276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377440"/>
            <a:ext cx="1088136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sz="5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谢谢！</a:t>
            </a:r>
            <a:endParaRPr sz="5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42535" y="3657600"/>
            <a:ext cx="1562735" cy="4616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sz="3000" b="1" i="0">
                <a:solidFill>
                  <a:srgbClr val="F961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 &amp; A</a:t>
            </a:r>
            <a:endParaRPr sz="3000" b="1" i="0">
              <a:solidFill>
                <a:srgbClr val="F9616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20.75,&quot;left&quot;:41.3,&quot;top&quot;:156.25,&quot;width&quot;:311.55}"/>
</p:tagLst>
</file>

<file path=ppt/tags/tag2.xml><?xml version="1.0" encoding="utf-8"?>
<p:tagLst xmlns:p="http://schemas.openxmlformats.org/presentationml/2006/main">
  <p:tag name="KSO_WM_DIAGRAM_VIRTUALLY_FRAME" val="{&quot;height&quot;:320.75,&quot;left&quot;:41.3,&quot;top&quot;:156.25,&quot;width&quot;:311.55}"/>
</p:tagLst>
</file>

<file path=ppt/tags/tag3.xml><?xml version="1.0" encoding="utf-8"?>
<p:tagLst xmlns:p="http://schemas.openxmlformats.org/presentationml/2006/main">
  <p:tag name="KSO_WM_DIAGRAM_VIRTUALLY_FRAME" val="{&quot;height&quot;:320.75,&quot;left&quot;:41.3,&quot;top&quot;:156.25,&quot;width&quot;:311.55}"/>
</p:tagLst>
</file>

<file path=ppt/tags/tag4.xml><?xml version="1.0" encoding="utf-8"?>
<p:tagLst xmlns:p="http://schemas.openxmlformats.org/presentationml/2006/main">
  <p:tag name="KSO_WM_DIAGRAM_VIRTUALLY_FRAME" val="{&quot;height&quot;:320.75,&quot;left&quot;:41.3,&quot;top&quot;:156.25,&quot;width&quot;:311.55}"/>
</p:tagLst>
</file>

<file path=ppt/tags/tag5.xml><?xml version="1.0" encoding="utf-8"?>
<p:tagLst xmlns:p="http://schemas.openxmlformats.org/presentationml/2006/main">
  <p:tag name="KSO_WM_DIAGRAM_VIRTUALLY_FRAME" val="{&quot;height&quot;:320.75,&quot;left&quot;:41.3,&quot;top&quot;:156.25,&quot;width&quot;:311.55}"/>
</p:tagLst>
</file>

<file path=ppt/tags/tag6.xml><?xml version="1.0" encoding="utf-8"?>
<p:tagLst xmlns:p="http://schemas.openxmlformats.org/presentationml/2006/main">
  <p:tag name="KSO_WM_DIAGRAM_VIRTUALLY_FRAME" val="{&quot;height&quot;:320.75,&quot;left&quot;:41.3,&quot;top&quot;:156.25,&quot;width&quot;:311.55}"/>
</p:tagLst>
</file>

<file path=ppt/tags/tag7.xml><?xml version="1.0" encoding="utf-8"?>
<p:tagLst xmlns:p="http://schemas.openxmlformats.org/presentationml/2006/main">
  <p:tag name="KSO_WM_DIAGRAM_VIRTUALLY_FRAME" val="{&quot;height&quot;:320.75,&quot;left&quot;:41.3,&quot;top&quot;:156.25,&quot;width&quot;:311.55}"/>
</p:tagLst>
</file>

<file path=ppt/tags/tag8.xml><?xml version="1.0" encoding="utf-8"?>
<p:tagLst xmlns:p="http://schemas.openxmlformats.org/presentationml/2006/main">
  <p:tag name="KSO_WM_DIAGRAM_VIRTUALLY_FRAME" val="{&quot;height&quot;:320.75,&quot;left&quot;:41.3,&quot;top&quot;:156.25,&quot;width&quot;:311.55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3396</Words>
  <Application>WPS 演示</Application>
  <PresentationFormat>On-screen Show (4:3)</PresentationFormat>
  <Paragraphs>323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8" baseType="lpstr">
      <vt:lpstr>Arial</vt:lpstr>
      <vt:lpstr>宋体</vt:lpstr>
      <vt:lpstr>Wingdings</vt:lpstr>
      <vt:lpstr>Arial</vt:lpstr>
      <vt:lpstr>微软雅黑</vt:lpstr>
      <vt:lpstr>Consolas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心.在彷徨</cp:lastModifiedBy>
  <cp:revision>15</cp:revision>
  <dcterms:created xsi:type="dcterms:W3CDTF">2013-01-27T09:14:00Z</dcterms:created>
  <dcterms:modified xsi:type="dcterms:W3CDTF">2026-06-11T03:45:03Z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177C6411F00B49739663E3A80DDC7532_12</vt:lpwstr>
  </property>
</Properties>
</file>